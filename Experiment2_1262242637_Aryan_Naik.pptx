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CFBC3-C4D6-4967-8192-B18DEDEF64E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FDDDA-6D1A-41CF-AC49-C3004BE04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442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FDDDA-6D1A-41CF-AC49-C3004BE0470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41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28CC1"/>
                </a:solidFill>
                <a:latin typeface="Poppins"/>
              </a:rPr>
              <a:t>UI/UX CASE STUDY</a:t>
            </a:r>
          </a:p>
          <a:p>
            <a:r>
              <a:rPr sz="2800" b="1">
                <a:solidFill>
                  <a:srgbClr val="FFFFFF"/>
                </a:solidFill>
                <a:latin typeface="Poppins"/>
              </a:rPr>
              <a:t>PORTFOLIO</a:t>
            </a:r>
          </a:p>
          <a:p>
            <a:pPr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EVALUATION</a:t>
            </a:r>
          </a:p>
          <a:p>
            <a:r>
              <a:rPr sz="1100">
                <a:solidFill>
                  <a:srgbClr val="DAE2E9"/>
                </a:solidFill>
                <a:latin typeface="Poppins"/>
              </a:rPr>
              <a:t>A detailed interface comparison of Naukri, LinkedIn, and Indeed to optimize modern job search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3C5D"/>
                </a:solidFill>
                <a:latin typeface="Poppins"/>
              </a:rPr>
              <a:t>Job Portal Interface Analysis</a:t>
            </a:r>
          </a:p>
          <a:p>
            <a:r>
              <a:rPr sz="1800" b="1">
                <a:solidFill>
                  <a:srgbClr val="328CC1"/>
                </a:solidFill>
                <a:latin typeface="Poppins"/>
              </a:rPr>
              <a:t>Comparative Study: Naukri.com vs. LinkedIn Jobs vs. Indeed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840480"/>
            <a:ext cx="6858000" cy="210312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CANDIDATE PROFILE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Candidate Name:</a:t>
            </a:r>
            <a:r>
              <a:rPr sz="1100">
                <a:solidFill>
                  <a:srgbClr val="212B36"/>
                </a:solidFill>
                <a:latin typeface="Poppins"/>
              </a:rPr>
              <a:t> Aryan Naik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PRN / Roll No:</a:t>
            </a:r>
            <a:r>
              <a:rPr sz="1100">
                <a:solidFill>
                  <a:srgbClr val="212B36"/>
                </a:solidFill>
                <a:latin typeface="Poppins"/>
              </a:rPr>
              <a:t> 1262242637 / Panel F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Domain Area:</a:t>
            </a:r>
            <a:r>
              <a:rPr sz="1100">
                <a:solidFill>
                  <a:srgbClr val="212B36"/>
                </a:solidFill>
                <a:latin typeface="Poppins"/>
              </a:rPr>
              <a:t> Job Portals (UI/UX Analysis)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Academic Year:</a:t>
            </a:r>
            <a:r>
              <a:rPr sz="1100">
                <a:solidFill>
                  <a:srgbClr val="212B36"/>
                </a:solidFill>
                <a:latin typeface="Poppins"/>
              </a:rPr>
              <a:t> 2026-2027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Platforms evolve UI/UX strategies to solve job-seeker information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3C5D"/>
                </a:solidFill>
                <a:latin typeface="Poppins"/>
              </a:rPr>
              <a:t>The Problem Space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The digital recruitment ecosystem handles millions of diverse job listings, creating immense information density.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Job seekers face significant cognitive fatigue, registration drop-offs, and communication barriers across platforms.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This research critically analyzes interface decisions, focusing purely on UI/UX factors (learnability, visual hierarchy, error prevention) while ignoring backend database and business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3C5D"/>
                </a:solidFill>
                <a:latin typeface="Poppins"/>
              </a:rPr>
              <a:t>Research Objectives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Evaluate the three market leaders—Naukri.com, LinkedIn Jobs, and Indeed—against 18 rigorous UX metrics.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Analyze real-world interactions against Shneiderman's 8 Golden Rules of Interface Design to benchmark accessibility and error control.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Model six distinct user personas (Fresher, Student, Director, etc.) to evaluate how successfully each platform accommodates diverse search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3C5D"/>
                </a:solidFill>
                <a:latin typeface="Poppins"/>
              </a:rPr>
              <a:t>Analytical Methodology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Interactive walk-throughs across the three portals documenting complete application workflows.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Interface assessment using Heuristic Evaluation principles and accessibility standards.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Comparative mapping: side-by-side matrices contrasting specific UI execution parameters.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User Journey Mapping tracking emotional states, friction, and opportunities across a 6-stage job search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UX FOUNDATIONS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LinkedIn outpaces competitors in foundational readability and navigation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3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UX Parameter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Naukri.com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LinkedIn Jobs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Winner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Learnability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Cluttered landing page with excessive ads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Fast setup but deep networking tools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Minimalist 'Google-like' search interface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Usability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Quick applying once setup, but ad heavy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Seamless profile, direct networking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Simple search, basic tracking flow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Consistency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Legacy registration screens match poorly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Perfect global brand design guidelines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Highly consistent but dated interface styling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Navigation Structure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6.5/10 - Deep, complex submenus; easy to get lost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Clean sidebar; overlay panel clutter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Extremely flat, direct menu layout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Visual Hierarchy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6.0/10 - Sponsored listings compete with filters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Distinct content containers &amp; bold CTA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Standard list, lacks dynamic styling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Efficiency of Interaction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Fast one-click apply for resume profiles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Fast Easy Apply &amp; direct chat links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Swift click-to-apply; external redirects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Search &amp; Discoverability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Strong search but results are ad-heavy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Granular, precise networking filter logic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Fast, direct keyword matching engine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Content Readability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6.5/10 - Small typography, dense listing columns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Clean Poppins style, ample card spacing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Clean classified text; dense listing boxes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Use of Metaphors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Standard briefcase/folder icon usage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Natural social network and message metaphors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Clear row layouts, standard classified tags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SYSTEM BEHAVIOR, TRUST &amp; AESTHETICS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Indeed leads in speed and performance while LinkedIn sweeps design and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4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UX Parameter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Naukri.com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LinkedIn Jobs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Winner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Accessibility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6.5/10 - Low contrast, weak screen reader labels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Full WCAG compliance, high visual contrast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Clean, highly legible, screen reader safe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Responsiveness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Cluttered mobile app, heavy web script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Exceptional uniform cross-device consistency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Fast mobile app, basic stripped-down web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Feedback &amp; Status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Standard application emails, vague views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Real-time alerts when resume is read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Opaque tracking dashboard; simple alerts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Error Prev. &amp; Recovery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Rigid forms, basic validation blocks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Prevent incomplete Easy Apply submissions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Straightforward registration form warning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Aesthetic/Minimalist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5.0/10 - Heavy, cluttered advertisements &amp; banners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Professional spacing, clear card groupings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Clean, but dated and bare classified visual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Performance Perception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Fast loading but heavy desktop layout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Smooth SPA; slow on weak connections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Instant load, zero heavy graphical weight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Trust &amp; Credibility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High spam calls reported from consulting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Highly verified recruiters and firms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High brand trust, some duplicate listings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Personalization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Recommends general keywords from logs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Excellent recommendation social graph AI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Basic job suggestion from search history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User Satisfaction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High transaction, frustrating UI clutter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Highly rated, integrates work/network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Appreciated for simplicity and speed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LinkedIn leads heuristic compliance while Naukri compromises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5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Shneiderman's Golden Rule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Naukri.com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LinkedIn Jobs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1. Strive for Consistency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Inconsistent. Legacy screens mix with new dashboards.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Very High. Shared 'Art Deco' design language on all pages.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Simple layout, extremely consistent text styling.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2. Universal Usability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Medium. Multi-lingual support but overwhelming visual noise.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Accessible features, high contrast, text scaling.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Very High. Stripped-down interface is highly universal.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3. Informative Feedback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Good application confirmations; recruiter views opaque.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Excellent. Real-time feedback on views and downloads.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Basic. Opaque recruiter feedback; standard emails.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4. Dialogs to Yield Closure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Clear confirmation screen but ads break final flow.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Seamless end-to-end confirmation with networking tips.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Straightforward apply with classic thank-you prompt.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5. Prevent Errors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Warns about missing attachments; high validation.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Alerts users of incomplete Easy Apply inputs.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Basic validation; occasionally allows submission errors.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6. Permit Reversal of Actions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Hard to retrieve custom responses; withdrawing is buried.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Easy one-click job application withdrawal.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Vague withdraw options; applications mostly final.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7. Keep Users in Control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Poor. Forced sponsored listings and persistent ads.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Excellent. Granular search and feed curation tools.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Complete lack of popups keeps user in focus.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8. Reduce Memory Load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Poor. Heavy advertising and banners cause visual fatigue.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Excellent. Profile caching minimizes repetitive data inputs.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Direct listing page matches classic classified format.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ANALYSIS &amp;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Critical heuristic breakdown reveals Naukri.com's distinct design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4663440"/>
          </a:xfrm>
          <a:prstGeom prst="roundRect">
            <a:avLst/>
          </a:prstGeom>
          <a:solidFill>
            <a:srgbClr val="0D55AC"/>
          </a:solidFill>
          <a:ln>
            <a:noFill/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NAUKRI.COM</a:t>
            </a:r>
          </a:p>
          <a:p>
            <a:pPr algn="ctr">
              <a:spcAft>
                <a:spcPts val="500"/>
              </a:spcAft>
            </a:pPr>
            <a:r>
              <a:rPr sz="1100">
                <a:solidFill>
                  <a:srgbClr val="DAE2E9"/>
                </a:solidFill>
                <a:latin typeface="Poppins"/>
              </a:rPr>
              <a:t>OVERALL HEURISTIC SCORE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7.1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Strengths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High Interaction Efficiency: One-click application process speeds up daily submissions.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Profile Caching: Remembers candidate credentials and multiple resumes effectively.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Recruiter Volume: High recruiter presence in India ensures rapid connection opportunities.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Weaknesses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Extremely Cluttered: Dense, ads-heavy homepage causes high cognitive load.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Inconsistent UI Design: Standard forms and legacy settings pages mismatch.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Spam Protection Failures: High rate of spam consultant outreach reported by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ANALYSIS &amp;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Critical heuristic breakdown reveals LinkedIn Jobs's distinct design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7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4663440"/>
          </a:xfrm>
          <a:prstGeom prst="roundRect">
            <a:avLst/>
          </a:prstGeom>
          <a:solidFill>
            <a:srgbClr val="0A66C2"/>
          </a:solidFill>
          <a:ln>
            <a:noFill/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LINKEDIN JOBS</a:t>
            </a:r>
          </a:p>
          <a:p>
            <a:pPr algn="ctr">
              <a:spcAft>
                <a:spcPts val="500"/>
              </a:spcAft>
            </a:pPr>
            <a:r>
              <a:rPr sz="1100">
                <a:solidFill>
                  <a:srgbClr val="DAE2E9"/>
                </a:solidFill>
                <a:latin typeface="Poppins"/>
              </a:rPr>
              <a:t>OVERALL HEURISTIC SCORE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9.1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Strengths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Premium Aesthetic: Clean, modern cards with clear visual containers.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Excellent Feedback &amp; Status: Instant push alerts when recruiters view or download CVs.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Powerful Personalization: AI recommendations integrate user's professional connections.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Weaknesses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Interface Bloat: Dynamic feed and messaging overlay can distract job seekers.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SPA Performance Delays: Heavy Single-Page Application features lag on low-bandwidth networks.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Paywall Friction: Job market analytics and direct message features restricted by LinkedIn Premium.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ANALYSIS &amp;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Critical heuristic breakdown reveals Indeed's distinct design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8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4663440"/>
          </a:xfrm>
          <a:prstGeom prst="roundRect">
            <a:avLst/>
          </a:prstGeom>
          <a:solidFill>
            <a:srgbClr val="2557E0"/>
          </a:solidFill>
          <a:ln>
            <a:noFill/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INDEED</a:t>
            </a:r>
          </a:p>
          <a:p>
            <a:pPr algn="ctr">
              <a:spcAft>
                <a:spcPts val="500"/>
              </a:spcAft>
            </a:pPr>
            <a:r>
              <a:rPr sz="1100">
                <a:solidFill>
                  <a:srgbClr val="DAE2E9"/>
                </a:solidFill>
                <a:latin typeface="Poppins"/>
              </a:rPr>
              <a:t>OVERALL HEURISTIC SCORE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8.3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Strengths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Outstanding Learnability: Barebones search interface resembling standard web browsers.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Excellent Performance: Blazing fast load times due to zero graphical clutter.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Flat Navigation Structure: Extremely flat hierarchy makes navigation 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Weaknesses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Dated Classified Visuals: Minimalist but uninspiring layout reminiscent of 2010 websites.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Lack of Recruiter Engagement: No path for direct candidate-recruiter messaging.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Basic Tracking Tools: Lacks dynamic progress tracking; status reports are mostly finalized.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</a:pPr>
            <a:r>
              <a:rPr sz="1400" b="1">
                <a:solidFill>
                  <a:srgbClr val="328CC1"/>
                </a:solidFill>
                <a:latin typeface="Poppins"/>
              </a:rPr>
              <a:t>SECTION TWO</a:t>
            </a:r>
          </a:p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FFFFFF"/>
                </a:solidFill>
                <a:latin typeface="Poppins"/>
              </a:rPr>
              <a:t>USER PERSONA PROFILES</a:t>
            </a:r>
          </a:p>
          <a:p>
            <a:pPr algn="ctr"/>
            <a:r>
              <a:rPr sz="1400">
                <a:solidFill>
                  <a:srgbClr val="DAE2E9"/>
                </a:solidFill>
                <a:latin typeface="Poppins"/>
              </a:rPr>
              <a:t>A detailed, structured representation of six distinct target user personas within the job portal ecosystem.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1. The Final-Year Student – Eager to Break Into 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10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Aarav Patel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B.Tech Computer Science Senior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Mumbai, Maharashtra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IIT Bombay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want structured, entry-level tech opportunities without getting filtered out by corporate algorithmic bottlenecks."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Find verified technology internships and full-time SDE roles.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Highlight university projects and technical hackathon wins.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Establish industry contacts through professional networking.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Entry-level jobs requiring 2+ years of prior working experience.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Inability to easily showcase GitHub projects directly in listings.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Complete lack of response (ghosting) on standard cold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Filters jobs strictly by 'Internship' and 'Entry-Level' tags.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Leverages university alumni connections on LinkedIn.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Applies to 3-5 selected, highly-researched positions daily.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(90%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88036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(45%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144018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(30%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96012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2. The Working Professional – Seeking Quality Career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11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Priya Sharma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Mid-Level UI/UX Designer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26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Bengaluru, Karnataka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National Institute of Design (NID)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need a transparent platform to evaluate company culture, work-life balance, and direct UI/UX leadership team roles."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Secure senior-level design role in product-centric company.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Filter for remote or hybrid flexible working arrangements.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Analyze company employee satisfaction ratings before applying.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Vague salary ranges and missing work-location terms.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Inability to attach portfolio links cleanly in quick-apply forms.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Receiving irrelevant calls from high-volume third-party recruitment agencies.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Researches company pages and employee networks on LinkedIn.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Prefers 'Easy Apply' gates but bypasses listings without clear details.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Configures granular email notifications for specific product design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(95%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304038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(50%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160020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(20%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64008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3. The Career Switcher – Navigating Domain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Amit Verma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Marketing Associate (Switching to PM)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31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Delhi NCR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Delhi University (B.Com)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need to highlight transferable leadership skills and certifications so recruitment algorithms don't auto-reject my profile."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Transition into entry-level Product Owner or PM roles.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Highlight active product certifications and side projects.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Identify hiring managers who value diverse domain backgrounds.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Resume parsing filters that instantly auto-reject candidates without specific titles.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Vague job postings with conflicting skills checklists.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Lack of constructive feedback explaining application rejections.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Builds tailored cover letters emphasizing transferable skills.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Directly messages hiring managers on LinkedIn to pitches qualifications.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Subscribes to professional job alert digests to identify new listings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(85%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72034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(70%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224028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(50%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160020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4. The Hungry Fresher – Searching for Volume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Sneha Reddy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Recent MBA Graduate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Hyderabad, Telangana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Osmania University (MBA)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want a simple, rapid system to apply to multiple business analyst roles and secure interviews quickly."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Secure immediate employment as a junior business analyst.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Gain corporate visibility and interview experience.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Identify high-volume recruitment drives and walk-in hiring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Extremely long, repetitive multi-page registration profiles.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Unpaid internship listings posing as full-time fresher positions.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Difficulty standing out among thousands of applicants on massive 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Maintains a daily checklist of 20+ applications across platforms.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Uploads basic resume to major portals and relies on bulk-matching emails.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Actively tracks walking-drive notifications and bulk-hiring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(90%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88036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(80%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256032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(50%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160020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5. The Experienced Manager – Confidential Leadership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07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Vikram Malhotra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Engineering Director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42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Pune, Maharashtra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COEP (B.E.), IIM Bangalore (Executive MBA)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require a confidential, secure search experience to assess top-tier executive roles without alerting my current firm."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Transition to VP of Engineering or CTO positions.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Maintain complete profile confidentiality and privacy control.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Establish connections with leading executive search consultants.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Unsolicited outreach from third-party headhunters offering mid-level roles.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Lack of granular control over who can view current employment status.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Inability to filter out low-quality listings or poorly defined roles.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Uses LinkedIn Premium 'Private Mode' to safely research target firms.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Relies on direct executive outreach and professional references.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Keeps resume profile mostly confidential and avoids broad public posting.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(95%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304038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(15%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48006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(5%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6. The Remote Job Seeker – Focused on Flexibility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Neha Das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Remote Content Strategist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28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Kolkata, West Bengal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St. Xavier's College (MA English)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want robust, verified work-from-home filters that exclude hybrid bait-and-switch listings."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Find 100% remote content or copywriting positions.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Collaborate with international startups and remote-first firms.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Avoid listings that falsely advertise remote but require office visits.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Hybrid job openings incorrectly tagged as remote in search systems.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Unreliable scam listings and low-budget freelance posts on open boards.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Lack of automated timezone conversion options in hiring descriptions.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Filters jobs strictly by 'Remote' tags and checks applicant counts.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Researches remote culture on company websites and directories.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Applies to international remote-first companies on dedicated 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(85%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72034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(75%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240030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(40%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128016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JOURNEY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Aryan Naik's job search map reveals critical drop-offs in registration and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16 of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1. Open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737360" cy="320040"/>
          </a:xfrm>
          <a:prstGeom prst="roundRect">
            <a:avLst/>
          </a:prstGeom>
          <a:solidFill>
            <a:srgbClr val="E1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228B22"/>
                </a:solidFill>
                <a:latin typeface="Poppins"/>
              </a:rPr>
              <a:t>Excited (Positive)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Decides to look for new jobs.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Selects target portals.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Loads URLs/apps on browser/mobile.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Initial load lagging on weak internet.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Forced redirect popups for app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Integrate lightweight mobile-optimized progressive web app technology.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5728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2. Login/Register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5728" y="1965960"/>
            <a:ext cx="1737360" cy="32004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B22222"/>
                </a:solidFill>
                <a:latin typeface="Poppins"/>
              </a:rPr>
              <a:t>Irritated (Negative)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Enters personal credentials.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Uploads resumes.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Answers comprehensive demographic profiles.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Repetitive form fields even after uploading resume.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OTP delays during authentication.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Incorporate one-click authentication like LinkedIn/Google OAuth.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6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3. Search Jobs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1965960"/>
            <a:ext cx="1737360" cy="320040"/>
          </a:xfrm>
          <a:prstGeom prst="roundRect">
            <a:avLst/>
          </a:prstGeom>
          <a:solidFill>
            <a:srgbClr val="E1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228B22"/>
                </a:solidFill>
                <a:latin typeface="Poppins"/>
              </a:rPr>
              <a:t>Satisfied (Positive)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Applies filters (location, salary).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Inputs search keywords.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Scans first page of results.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2816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Irrelevant sponsored search results.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Lack of advanced filters like remote/on-site on Indeed.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Incorporate NLP search query parsers to deliver accurate semantic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4. Apply to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9904" y="1965960"/>
            <a:ext cx="1737360" cy="320040"/>
          </a:xfrm>
          <a:prstGeom prst="roundRect">
            <a:avLst/>
          </a:prstGeom>
          <a:solidFill>
            <a:srgbClr val="F0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F42C1"/>
                </a:solidFill>
                <a:latin typeface="Poppins"/>
              </a:rPr>
              <a:t>Anxious (High Stress)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Clicks core call-to-action.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Answers job-specific questions.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Submits finalized application.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9904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Redirection loop back to company external portal.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Repeated cover-letter upload gates.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Partner with HR software to expand uniform One-Click Apply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6992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5. Track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1965960"/>
            <a:ext cx="1737360" cy="32004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B22222"/>
                </a:solidFill>
                <a:latin typeface="Poppins"/>
              </a:rPr>
              <a:t>Fatigued (Low Energy)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6992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Refreshes application dashboard.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Checks email regularly.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Monitors job listing status.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Completely opaque application progress.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Silent rejections without status updates.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36992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Add dynamic progression tracker cards showing recruiter pipeline 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6. Get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965960"/>
            <a:ext cx="1737360" cy="32004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B87333"/>
                </a:solidFill>
                <a:latin typeface="Poppins"/>
              </a:rPr>
              <a:t>Neutral (Passive)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Receives portal notification.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Arranges interview schedule.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Closes successful application.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Automated system rejection alerts.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Ghosting from recruiters without feedback.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Add automated reminder rules requesting recruiters send closing feedback.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91D8D-D0D8-5DDE-91E8-AFD6EEA9E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3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3189</Words>
  <Application>Microsoft Office PowerPoint</Application>
  <PresentationFormat>Widescreen</PresentationFormat>
  <Paragraphs>457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Naik</dc:creator>
  <cp:keywords/>
  <dc:description>generated using python-pptx</dc:description>
  <cp:lastModifiedBy>AryanN</cp:lastModifiedBy>
  <cp:revision>2</cp:revision>
  <dcterms:created xsi:type="dcterms:W3CDTF">2013-01-27T09:14:16Z</dcterms:created>
  <dcterms:modified xsi:type="dcterms:W3CDTF">2026-08-08T16:32:57Z</dcterms:modified>
  <cp:category/>
</cp:coreProperties>
</file>